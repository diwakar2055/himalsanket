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4754880"/>
            <a:ext cx="5943600" cy="2194560"/>
          </a:xfrm>
          <a:prstGeom prst="triangle">
            <a:avLst/>
          </a:prstGeom>
          <a:solidFill>
            <a:srgbClr val="4A5D75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4297680"/>
            <a:ext cx="6858000" cy="2651760"/>
          </a:xfrm>
          <a:prstGeom prst="triangle">
            <a:avLst/>
          </a:prstGeom>
          <a:solidFill>
            <a:srgbClr val="24365C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846320"/>
            <a:ext cx="5486400" cy="2103120"/>
          </a:xfrm>
          <a:prstGeom prst="triangle">
            <a:avLst/>
          </a:prstGeom>
          <a:solidFill>
            <a:srgbClr val="4A5D75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4343400"/>
            <a:ext cx="27432" cy="411480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6336792" y="4343400"/>
            <a:ext cx="320040" cy="201168"/>
          </a:xfrm>
          <a:prstGeom prst="triangl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HimalSanket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Early Warning for Nepal's Mountains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91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communities and trekkers — before the next Langtang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AI BUILDER CUP 2026  ·  SUSTAINABILITY &amp; SOCIAL IMPACT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DAMAGE CASCADES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Valley, One Road — A Bottleneck by Geography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High-Altitude Trigger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GLOF, rock-ice avalanche, or cloudburst above 5,000m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302666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8" name="Shape 6"/>
          <p:cNvSpPr/>
          <p:nvPr/>
        </p:nvSpPr>
        <p:spPr>
          <a:xfrm>
            <a:off x="3090672" y="210312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73552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Debris Flow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73552" y="3017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Surges down a single river channel within minutes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302666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78424" y="210312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61304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Highway / Trail Cutoff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61304" y="3017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road or trail in the valley is severed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8432" y="302666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66176" y="210312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9B2C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Trapped, Uncontactable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0175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downstream is sealed in, comms go dark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61772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trekking valleys are narrow, single-road funnels: one debris flow doesn't just threaten a village — it seals off everyone downstream at once, locals and tourists alike.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 26, 2026 — Langtang Valley, Rasuwa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77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1,287+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 nationwide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(NDRRMA, Sept 4)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2377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5,083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missing, incl.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583 foreign nationals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2377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days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confirmed survival —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alive Sept 5,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846320"/>
            <a:ext cx="10424160" cy="0"/>
          </a:xfrm>
          <a:prstGeom prst="line">
            <a:avLst/>
          </a:prstGeom>
          <a:noFill/>
          <a:ln w="12700">
            <a:solidFill>
              <a:srgbClr val="E7EA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Nepal's National Disaster Risk Reduction &amp; Management Authority (Sept 4, 2026 update); NDRRMA rescue bulletin, Sept 5, 2026.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KEEPS HAPPENING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Langtang's First Disaster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E7EA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5D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earthquake-triggered avalanche buries Langtang village — hundreds killed, including foreign trekkers.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0" y="2697480"/>
            <a:ext cx="640080" cy="457200"/>
          </a:xfrm>
          <a:prstGeom prst="rightArrow">
            <a:avLst/>
          </a:prstGeom>
          <a:solidFill>
            <a:srgbClr val="E4572E"/>
          </a:solidFill>
          <a:ln/>
        </p:spPr>
      </p:sp>
      <p:sp>
        <p:nvSpPr>
          <p:cNvPr id="8" name="Shape 6"/>
          <p:cNvSpPr/>
          <p:nvPr/>
        </p:nvSpPr>
        <p:spPr>
          <a:xfrm>
            <a:off x="6080760" y="182880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FCE9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glacial-origin flood cuts off the valley — hundreds of tourists uncontactable, the gateway town and highway destroyed.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106527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34840"/>
            <a:ext cx="992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 frequency is accelerating: ICIMOD recorded three major glacial-flood events across the region within two months in 2025 — versus a historical pace of roughly one every 5–10 years.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Nepal's Warning System Has Four Blind Spots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E7EA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5D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Today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Gauge-based river monitoring — major basins only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 once water is already high (reactive)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satellite or remote-sensing layer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 for landslides, GLOF, or avalanches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CE9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74320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reasoning across multiple live signals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+ crowdsourced coverage of remote valleys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GLOF &amp; landslide risk modeling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Two-way, tourist-aware alerts — before departure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Two Audiences. Same Valleys.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 rot="10800000">
            <a:off x="1005840" y="2286000"/>
            <a:ext cx="640080" cy="502920"/>
          </a:xfrm>
          <a:prstGeom prst="pentagon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51760"/>
            <a:ext cx="45720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383280"/>
            <a:ext cx="5029200" cy="1874520"/>
          </a:xfrm>
          <a:prstGeom prst="roundRect">
            <a:avLst>
              <a:gd name="adj" fmla="val 2927"/>
            </a:avLst>
          </a:prstGeom>
          <a:solidFill>
            <a:srgbClr val="E4ED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Local Communities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alerts in Nepali and English for people living in hazard-exposed valleys and settlements.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914400" cy="9144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377440"/>
            <a:ext cx="640080" cy="50292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3383280"/>
            <a:ext cx="5029200" cy="187452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Tourists &amp; Trekkers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9776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risk visibility for Nepal's busiest corridors — Langtang, Everest/Khumbu, Annapurna, and Manaslu.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62356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live in these valleys. Tourists trek through them. The underlying risk data is the same.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Signals to a Life-Saving Alert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606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satellite imagery, seismic activity, crowdsourced reports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52928" y="339242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8" name="Shape 6"/>
          <p:cNvSpPr/>
          <p:nvPr/>
        </p:nvSpPr>
        <p:spPr>
          <a:xfrm>
            <a:off x="3090672" y="237744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73552" y="2606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Fusion Engine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73552" y="3291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backend combines and scores every signal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40680" y="339242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78424" y="237744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61304" y="2606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Reasoning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861304" y="3291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generates a risk tier and plain-language alert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339242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66176" y="237744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4A5D7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2606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291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and alerts, in Nepali and English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Two Signals Together, Not One Alone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4572000" cy="1920240"/>
          </a:xfrm>
          <a:prstGeom prst="roundRect">
            <a:avLst>
              <a:gd name="adj" fmla="val 3810"/>
            </a:avLst>
          </a:prstGeom>
          <a:solidFill>
            <a:srgbClr val="E4ED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Seismic spike, no quake origin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seismic reading with no matching earthquake record often signals a sudden mass movement instead.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2679192"/>
            <a:ext cx="402336" cy="402336"/>
          </a:xfrm>
          <a:prstGeom prst="plus">
            <a:avLst/>
          </a:prstGeom>
          <a:solidFill>
            <a:srgbClr val="6B7A90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0" y="1920240"/>
            <a:ext cx="4572000" cy="1920240"/>
          </a:xfrm>
          <a:prstGeom prst="roundRect">
            <a:avLst>
              <a:gd name="adj" fmla="val 3810"/>
            </a:avLst>
          </a:prstGeom>
          <a:solidFill>
            <a:srgbClr val="E4ED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2194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Sudden downstream water drop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834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river level that falls sharply downstream can mean water is pooling behind a new, unstable debris dam upstream.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106527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297680"/>
            <a:ext cx="9921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both signals together and flags a probable landslide dam — a hazard neither signal reveals on its own, and one that satellite imagery alone often misses beneath cloud cover.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Act Before the Water Rises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248259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901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Pre-Departure Risk Dashboard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59152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status for major trekking corridors, so agencies and trekkers can reroute or delay before entering a valley.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63056" y="2482596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1901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Crowdsourced Ground Reports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359152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porters, and teahouse owners flag hazards with a tap, a photo, or a voice note in their own dialect.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" y="463143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News Signal Listening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507992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scans public posts and news for early on-the-ground chatter official sensors haven't caught yet.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4631436"/>
            <a:ext cx="566928" cy="566928"/>
          </a:xfrm>
          <a:prstGeom prst="ellipse">
            <a:avLst/>
          </a:prstGeom>
          <a:solidFill>
            <a:srgbClr val="4A5D7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Authority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507992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Trekking agencies, the Tourism Board, and ward offices see who's registered in a valley the moment risk rises.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WE DRAW 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Not Guesswork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0652760" cy="4572000"/>
        </p:xfrm>
        <a:graphic>
          <a:graphicData uri="http://schemas.openxmlformats.org/drawingml/2006/table">
            <a:tbl>
              <a:tblPr/>
              <a:tblGrid>
                <a:gridCol w="3749040"/>
                <a:gridCol w="2788920"/>
                <a:gridCol w="4114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Dept. of Hydrology &amp; Meteorology (DHM)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gov't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 gauge and rainfall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ICIMOD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research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of named high-risk glacial lakes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Landslide Susceptibility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dataset, 30m 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landslide risk by terrain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Earth Engine (Sentinel-2)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imagery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glacial lake area change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seismic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earthquake trigger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Earth Engine — Open Buildings 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footprint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community exposure inside hazard zones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Crowdsourced reports &amp; public posts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Community-generated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Early, on-the-ground signals sensors miss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Mandatory Requirement, Put to Real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48740" y="210312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Shape 3"/>
          <p:cNvSpPr/>
          <p:nvPr/>
        </p:nvSpPr>
        <p:spPr>
          <a:xfrm>
            <a:off x="1504188" y="2258568"/>
            <a:ext cx="512064" cy="512064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66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Current-generation multimodal reasoning (Vertex AI) across satellite images, sensor data, and text — generates bilingual, plain-language alerts.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91940" y="2103120"/>
            <a:ext cx="822960" cy="8229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4247388" y="2258568"/>
            <a:ext cx="512064" cy="512064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Run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566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backend running the risk fusion engine at scale.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35140" y="210312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990588" y="2258568"/>
            <a:ext cx="512064" cy="512064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932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566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hosting, dashboard, and alert delivery.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78340" y="2103120"/>
            <a:ext cx="822960" cy="822960"/>
          </a:xfrm>
          <a:prstGeom prst="ellipse">
            <a:avLst/>
          </a:prstGeom>
          <a:solidFill>
            <a:srgbClr val="4A5D75"/>
          </a:solidFill>
          <a:ln/>
        </p:spPr>
      </p:sp>
      <p:sp>
        <p:nvSpPr>
          <p:cNvPr id="17" name="Shape 15"/>
          <p:cNvSpPr/>
          <p:nvPr/>
        </p:nvSpPr>
        <p:spPr>
          <a:xfrm>
            <a:off x="9733788" y="2258568"/>
            <a:ext cx="512064" cy="512064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3252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 Engine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35661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Sentinel satellite imagery for glacial lake monitoring.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Lives Also Protects Nepal's Economic Lifeline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E4ED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5727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— Sustainable Cities &amp; Communities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31920" y="157276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CE9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3192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— Climate Action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~6–8%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249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Nepal's GDP comes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tourism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564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12394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supported by the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sector nationwide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2103120"/>
            <a:ext cx="0" cy="269748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21488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Langtang, Everest/Khumbu, Annapurna, and Manaslu are among Nepal's most visited trekking corridors — and among its most hazard-exposed. Protecting these valleys protects both lives and livelihoods.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956048"/>
            <a:ext cx="106527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956048"/>
            <a:ext cx="992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fusion approach — satellite + sensor + crowdsourced + Gen AI reasoning — extends directly to Bhutan, northern India, and Pakistan, which face identical glacial lake risk across the Himalaya.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AFTERMATH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Search That Took 11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E7EA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5D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trapped before rescue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Sept 5, 2026, 60-year-old Chandika Shrestha was found alive in Betrawati, Nuwakot, trapped beneath a collapsed four-storey building for 11 days. Armed Police Force teams located her with sniffer dogs, searching mud and debris largely undirected. She was airlifted to Kathmandu for treatment.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CE9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Search Prioritization (Phase 2)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517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report a missing person's last known building and location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cross-references reports with structural damage estimates from imagery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ranked dig list — pointing ground and sniffer-dog teams, not replacing them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37760"/>
            <a:ext cx="106527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37760"/>
            <a:ext cx="992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replace the courage or skill of search teams — it aims to help them start digging in the right place sooner.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SURVIVOR'S LAST TRANSMISSION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Distress Capsule — Sent Before the Battery 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first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sent as the smallest possible payload — most likely to get through a brief signal window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284378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8" name="Shape 6"/>
          <p:cNvSpPr/>
          <p:nvPr/>
        </p:nvSpPr>
        <p:spPr>
          <a:xfrm>
            <a:off x="3090672" y="182880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73552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+ photo, if signal allows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73552" y="2651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voice note and one photo queue automatically and retry as signal returns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84378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78424" y="182880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61304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reads what arrived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61304" y="2651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the voice note, reads visual cues in the photo, flags injury or urgency language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8432" y="2843784"/>
            <a:ext cx="219456" cy="256032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66176" y="1828800"/>
            <a:ext cx="2331720" cy="2286000"/>
          </a:xfrm>
          <a:prstGeom prst="roundRect">
            <a:avLst>
              <a:gd name="adj" fmla="val 2800"/>
            </a:avLst>
          </a:prstGeom>
          <a:solidFill>
            <a:srgbClr val="9B2C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Jumps the search queue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6517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self-report always outranks a secondhand family guess in the priority 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10652760" cy="1417320"/>
          </a:xfrm>
          <a:prstGeom prst="roundRect">
            <a:avLst>
              <a:gd name="adj" fmla="val 5161"/>
            </a:avLst>
          </a:prstGeom>
          <a:solidFill>
            <a:srgbClr val="E7EA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434840"/>
            <a:ext cx="9921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4A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this requires at least one brief signal window to send anything at all — it cannot recover a location the phone never transmitted. It fuses whatever fragments arrive (GPS, voice cues, a registered trail checkpoint) into the best possible estimate, not a guarantee.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HimalSanket · AI Builder Cup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Now — and What Comes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120640" cy="2971800"/>
          </a:xfrm>
          <a:prstGeom prst="roundRect">
            <a:avLst>
              <a:gd name="adj" fmla="val 2154"/>
            </a:avLst>
          </a:prstGeom>
          <a:solidFill>
            <a:srgbClr val="2436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This Hackathon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480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fusion model across rainfall, satellite, and seismic data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reasoning layer generating bilingual alerts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risk dashboard for major trekking corridors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working crowdsourced ground-report 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5120640" cy="2971800"/>
          </a:xfrm>
          <a:prstGeom prst="roundRect">
            <a:avLst>
              <a:gd name="adj" fmla="val 2154"/>
            </a:avLst>
          </a:prstGeom>
          <a:solidFill>
            <a:srgbClr val="2436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645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Beyond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Nepal's TIMS trekking-permit system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Satellite-messenger alerts for zero-connectivity zones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delivery via existing Ncell/NTC 1155 infrastructure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Post-disaster response: relief dispatch, search prioritization, and distress-capsule intake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Bhutan, northern India, and Pakistan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70916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“Because Langtang shouldn’t happen a third time.”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· Divakar · Basanta · Sudip  ·  AI Builder Cup 2026  ·  Sustainability &amp; Social Impact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2026-09-07T00:34:07Z</dcterms:created>
  <dcterms:modified xsi:type="dcterms:W3CDTF">2026-09-07T00:34:07Z</dcterms:modified>
</cp:coreProperties>
</file>